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859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64592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431034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rPr dirty="0"/>
              <a:t>ACADEMIC CLOUD COMPUTING PROJECT | 24CC3046-</a:t>
            </a:r>
            <a:r>
              <a:rPr lang="en-IN"/>
              <a:t>T175-</a:t>
            </a:r>
            <a:r>
              <a:t>P073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Azure Files Sync with an On-Premises File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Enterprise Hybrid Storage Architecture, Cloud Tiering &amp; Bottleneck Mitigation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474720"/>
            <a:ext cx="530352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356616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TEAM MEMBERS (T073):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 2400032964  -  VISHNUBHOTLA H S S N S RAMA KOUSHIK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 2400032747  -  B. LAKSHMI SRAVANTHI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 2400032991  -  BAPATHU YASWANTH OBUL REDDY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 2400032195  -  S. MADHURI DEVI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474720"/>
            <a:ext cx="438912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0" y="3566160"/>
            <a:ext cx="4023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COURSE FACULTY &amp; INSTITUTION:</a:t>
            </a:r>
          </a:p>
          <a:p>
            <a:pPr>
              <a:defRPr sz="1100" b="1">
                <a:solidFill>
                  <a:srgbClr val="94A3B8"/>
                </a:solidFill>
              </a:defRPr>
            </a:pPr>
            <a:r>
              <a:t>Course Instructor: </a:t>
            </a:r>
            <a:r>
              <a:rPr b="0">
                <a:solidFill>
                  <a:srgbClr val="FFFFFF"/>
                </a:solidFill>
              </a:rPr>
              <a:t>Dr. Raju Anitha</a:t>
            </a:r>
          </a:p>
          <a:p>
            <a:pPr>
              <a:defRPr sz="1100" b="1">
                <a:solidFill>
                  <a:srgbClr val="94A3B8"/>
                </a:solidFill>
              </a:defRPr>
            </a:pPr>
            <a:r>
              <a:t>Track / Domain: </a:t>
            </a:r>
            <a:r>
              <a:rPr b="0">
                <a:solidFill>
                  <a:srgbClr val="FFFFFF"/>
                </a:solidFill>
              </a:rPr>
              <a:t>Hybrid Cloud &amp; Enterprise Storage</a:t>
            </a:r>
          </a:p>
          <a:p>
            <a:pPr>
              <a:defRPr sz="1100" b="1">
                <a:solidFill>
                  <a:srgbClr val="94A3B8"/>
                </a:solidFill>
              </a:defRPr>
            </a:pPr>
            <a:r>
              <a:t>Department: </a:t>
            </a:r>
            <a:r>
              <a:rPr b="0">
                <a:solidFill>
                  <a:srgbClr val="FFFFFF"/>
                </a:solidFill>
              </a:rPr>
              <a:t>Computer Science &amp; Engineering</a:t>
            </a:r>
          </a:p>
          <a:p>
            <a:pPr>
              <a:defRPr sz="1100" b="1">
                <a:solidFill>
                  <a:srgbClr val="94A3B8"/>
                </a:solidFill>
              </a:defRPr>
            </a:pPr>
            <a:r>
              <a:t>Institution: </a:t>
            </a:r>
            <a:r>
              <a:rPr b="0">
                <a:solidFill>
                  <a:srgbClr val="FFFFFF"/>
                </a:solidFill>
              </a:rPr>
              <a:t>Koneru Lakshmaiah Education Foundation (K L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8D4"/>
                </a:solidFill>
              </a:defRPr>
            </a:pPr>
            <a:r>
              <a:t>HYBRID STORAGE | PROJECT: 24CC3046-P073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C39"/>
                </a:solidFill>
              </a:defRPr>
            </a:pPr>
            <a:r>
              <a:t>Problem Statement &amp; Industry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C39"/>
                </a:solidFill>
              </a:defRPr>
            </a:pPr>
            <a:r>
              <a:t>1. Storage Exhaustion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Unstructured file growth (PDFs, CAD, datasets) is expanding at 40%+ yearly.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On-premises storage arrays (SAN/NAS) run out of capacity rapidly.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Adding physical hard drives requires expensive hardware and downtime.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C39"/>
                </a:solidFill>
              </a:defRPr>
            </a:pPr>
            <a:r>
              <a:t>2. User Friction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Traditional cloud migrations force users to adopt web portals or change SMB drive paths.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Users demand sub-millisecond local LAN speeds for active working files.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Remote offices suffer from slow WAN links if all files reside solely in cloud storage.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3. Azure File Sync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Combines the low latency of local Windows Servers with the infinite scale of Azure Files.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Automated Cloud Tiering keeps frequently used files locally and archives cold files to the cloud.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Seamless end-user experience: folder structures, drive letters, and permissions stay identical.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8D4"/>
                </a:solidFill>
              </a:defRPr>
            </a:pPr>
            <a:r>
              <a:t>HYBRID STORAGE | PROJECT: 24CC3046-P073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C39"/>
                </a:solidFill>
              </a:defRPr>
            </a:pPr>
            <a:r>
              <a:t>Project Objectives &amp; Assigned Use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78D4"/>
                </a:solidFill>
              </a:defRPr>
            </a:pPr>
            <a:r>
              <a:t>USE CASE 1:</a:t>
            </a:r>
          </a:p>
          <a:p>
            <a:pPr>
              <a:defRPr sz="1800" b="1">
                <a:solidFill>
                  <a:srgbClr val="0B1C39"/>
                </a:solidFill>
              </a:defRPr>
            </a:pPr>
            <a:r>
              <a:t>Tier Cold Files to Azure While Keeping Local Access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Infrequently accessed files ('cold data') are seamlessly moved to Azure Files storage.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Reparse Point stubs ('ghost files') remain on the local server filesystem.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Local users see the exact same directory hierarchy without broken links or path changes.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When an end-user or application opens a tiered file, the kernel driver streams the data back automatically on-demand.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USE CASE 2:</a:t>
            </a:r>
          </a:p>
          <a:p>
            <a:pPr>
              <a:defRPr sz="1800" b="1">
                <a:solidFill>
                  <a:srgbClr val="0B1C39"/>
                </a:solidFill>
              </a:defRPr>
            </a:pPr>
            <a:r>
              <a:t>Reduce On-Premises Storage Growth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Physical storage footprint on local disk shrinks dramatically, eliminating continuous SAN/NAS upgrades.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Demonstrated through 'Size' vs 'Size on Disk': a 20 MB file consumes only 0 KB on physical local disk.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Configurable Volume Free Space Policies guarantee that high-speed local disk never runs out of space.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Substantial cost savings by offloading bulk data to low-cost cloud storage tiers.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8D4"/>
                </a:solidFill>
              </a:defRPr>
            </a:pPr>
            <a:r>
              <a:t>HYBRID STORAGE | PROJECT: 24CC3046-P073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C39"/>
                </a:solidFill>
              </a:defRPr>
            </a:pPr>
            <a:r>
              <a:t>High-Level Hybrid Architecture &amp; Components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8D4"/>
                </a:solidFill>
              </a:defRPr>
            </a:pPr>
            <a:r>
              <a:t>CLOUD ENDPOINT</a:t>
            </a:r>
          </a:p>
          <a:p>
            <a:pPr>
              <a:defRPr sz="1500" b="1">
                <a:solidFill>
                  <a:srgbClr val="0B1C39"/>
                </a:solidFill>
              </a:defRPr>
            </a:pPr>
            <a:r>
              <a:t>1. Storage Account &amp; File Share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Hosts the centralized master SMB file share (cloud-fileshare) in Azure Storage with geo-redundancy and high durability.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8D4"/>
                </a:solidFill>
              </a:defRPr>
            </a:pPr>
            <a:r>
              <a:t>CONTROL PLANE</a:t>
            </a:r>
          </a:p>
          <a:p>
            <a:pPr>
              <a:defRPr sz="1500" b="1">
                <a:solidFill>
                  <a:srgbClr val="0B1C39"/>
                </a:solidFill>
              </a:defRPr>
            </a:pPr>
            <a:r>
              <a:t>2. Storage Sync Service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The top-level Azure Resource Manager service that manages sync groups, registered servers, and replication metadata.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8D4"/>
                </a:solidFill>
              </a:defRPr>
            </a:pPr>
            <a:r>
              <a:t>SIMULATED ON-PREMISES</a:t>
            </a:r>
          </a:p>
          <a:p>
            <a:pPr>
              <a:defRPr sz="1500" b="1">
                <a:solidFill>
                  <a:srgbClr val="0B1C39"/>
                </a:solidFill>
              </a:defRPr>
            </a:pPr>
            <a:r>
              <a:t>3. Windows Server 2022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Azure VM (vm-onprem-server) simulating a real corporate on-premises file server with dedicated NTFS Data Volume (E:).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5120640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4114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8D4"/>
                </a:solidFill>
              </a:defRPr>
            </a:pPr>
            <a:r>
              <a:t>HOST AGENT &amp; DRIVER</a:t>
            </a:r>
          </a:p>
          <a:p>
            <a:pPr>
              <a:defRPr sz="1500" b="1">
                <a:solidFill>
                  <a:srgbClr val="0B1C39"/>
                </a:solidFill>
              </a:defRPr>
            </a:pPr>
            <a:r>
              <a:t>4. Azure File Sync Agent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Contains FileSyncSvc.exe (sync service) and StorageSync.sys (filesystem filter driver managing tiering and recall).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8D4"/>
                </a:solidFill>
              </a:defRPr>
            </a:pPr>
            <a:r>
              <a:t>HYBRID STORAGE | PROJECT: 24CC3046-P073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C39"/>
                </a:solidFill>
              </a:defRPr>
            </a:pPr>
            <a:r>
              <a:t>Cloud Infrastructure Implementation via Azure Portal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8D4"/>
                </a:solidFill>
              </a:defRPr>
            </a:pPr>
            <a:r>
              <a:t>Step 1: Region Selection &amp; Policy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Resolved Azure for Students subscription restriction by deploying resources into East Asia, strictly satisfying governance policies.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698480" cy="10058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8D4"/>
                </a:solidFill>
              </a:defRPr>
            </a:pPr>
            <a:r>
              <a:t>Step 2: Azure Storage Account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Created General Purpose v2 storage account (filesync073storage) optimized for Azure Files with an SMB share (cloud-fileshare).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023359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8D4"/>
                </a:solidFill>
              </a:defRPr>
            </a:pPr>
            <a:r>
              <a:t>Step 3: Windows Server 2022 VM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Deployed Standard_B2als_v2 (2 vCPU, 4 GiB RAM) running Windows Server 2022 Datacenter, simulating on-prem server via browser Bastion.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10698480" cy="10058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166359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8D4"/>
                </a:solidFill>
              </a:defRPr>
            </a:pPr>
            <a:r>
              <a:t>Step 4: Dedicated Data Disk (E:)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Attached a 32 GiB managed data disk to resolve error 0x80C80226, enabling cloud tiering on dedicated non-system volume (E:\OnPremShare).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8D4"/>
                </a:solidFill>
              </a:defRPr>
            </a:pPr>
            <a:r>
              <a:t>HYBRID STORAGE | PROJECT: 24CC3046-P073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C39"/>
                </a:solidFill>
              </a:defRPr>
            </a:pPr>
            <a:r>
              <a:t>Agent Deployment &amp; Cryptographic Server Registration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C39"/>
                </a:solidFill>
              </a:defRPr>
            </a:pPr>
            <a:r>
              <a:t>Agent Deployment Workflow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Accessed the Windows Server VM directly inside the browser using Azure Bastion (zero local software required).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Downloaded latest Azure File Sync MSI via aka.ms/afs/agent/Server2022 directly inside PowerShell.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Installed the agent package, registering FileSyncSvc and the StorageSync.sys filter driver in the kernel.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Launched ServerRegistration.exe and authenticated using institutional credentials (2400032964@kluniversity.in).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C39"/>
                </a:solidFill>
              </a:defRPr>
            </a:pPr>
            <a:r>
              <a:t>Security &amp; Trust Establishment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Certificate Exchange: Mutual TLS (mTLS) certificate trust is established between local server and Azure Storage Sync Service.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Registered Servers Blade: Validated that vm-onprem-server showed a green status ('Online') in Azure Portal.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Role-Based Access: Server assigned sync permissions without exposing storage account access keys.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Heartbeat Monitoring: Agent transmits telemetry every few minutes, tracking volume status, sync errors, and tiering health.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8D4"/>
                </a:solidFill>
              </a:defRPr>
            </a:pPr>
            <a:r>
              <a:t>HYBRID STORAGE | PROJECT: 24CC3046-P073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C39"/>
                </a:solidFill>
              </a:defRPr>
            </a:pPr>
            <a:r>
              <a:t>Sync Group Configuration &amp; Cloud Tiering Policies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Cloud Endpoint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Sync Group: syncgroup-corporate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Target Share: cloud-fileshare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Acts as central cloud storage hub.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All server endpoints sync bi-directionally with this cloud endpoint.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Supports snapshot backup, soft delete, and Azure Backup integration.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Server Endpoint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Path: E:\OnPremShare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Server: vm-onprem-server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Local cache directory where users interact over standard SMB.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Change tracking leverages Windows NTFS USN (Update Sequence Number) journal for near real-time sync.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Tiering Policy Rules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Volume Free Space: Configured at 20%. Ensures at least 20% of disk capacity is perpetually free.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Date Policy: Optionally offloads files untouched for &gt;N days.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Initial Download: Configured to 'Namespace only' so metadata downloads instantly without saturating network.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8D4"/>
                </a:solidFill>
              </a:defRPr>
            </a:pPr>
            <a:r>
              <a:t>HYBRID STORAGE | PROJECT: 24CC3046-P073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C39"/>
                </a:solidFill>
              </a:defRPr>
            </a:pPr>
            <a:r>
              <a:t>Working Mechanism: Hot vs. Cold (Tiered) 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C39"/>
                </a:solidFill>
              </a:defRPr>
            </a:pPr>
            <a:r>
              <a:t>HOT FILE (Local Cache)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File State: Fully present on both local disk and Azure Files.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Size Metrics: Logical Size == Size on Disk (e.g. 20 MB == 20 MB).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Performance: Near-zero read latency over local server bus / LAN.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Visual Indicator: Standard file icon in Windows Explorer.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Attributes: Standard Archive / Normal attributes.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COLD / TIERED FILE (Ghost Stub)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File State: File payload stored safely in Azure Files; only pointer stub remains locally.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Size Metrics: Logical Size = 20 MB, but Size on Disk = 0 KB!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Filesystem Mechanism: Uses NTFS Reparse Points and Sparse File tags.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Attributes: ReparsePoint, Offline (0x1000) attribute applied.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Visual Indicator: Windows Explorer displays a cloud badge icon.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On-Demand Recall: When opened, StorageSync.sys transparently streams data from Azure.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8D4"/>
                </a:solidFill>
              </a:defRPr>
            </a:pPr>
            <a:r>
              <a:t>HYBRID STORAGE | PROJECT: 24CC3046-P073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C39"/>
                </a:solidFill>
              </a:defRPr>
            </a:pPr>
            <a:r>
              <a:t>Bottleneck 1: Cloud Tiering Recall Slowness &amp; Mitigation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THE BOTTLENECK:</a:t>
            </a:r>
          </a:p>
          <a:p>
            <a:pPr>
              <a:defRPr sz="1700" b="1">
                <a:solidFill>
                  <a:srgbClr val="0B1C39"/>
                </a:solidFill>
              </a:defRPr>
            </a:pPr>
            <a:r>
              <a:t>User-Visible Recall Latency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✖ When an end user double-clicks a cold file, the local application pauses while data is downloaded over the WAN.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✖ For large files (e.g. 500 MB CAD models, datasets), this causes application freezes ('Not Responding') or network timeouts.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✖ Latency is compounded during peak business hours if multiple users recall cold files simultaneously.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ENGINEERED MITIGATION:</a:t>
            </a:r>
          </a:p>
          <a:p>
            <a:pPr>
              <a:defRPr sz="1700" b="1">
                <a:solidFill>
                  <a:srgbClr val="0B1C39"/>
                </a:solidFill>
              </a:defRPr>
            </a:pPr>
            <a:r>
              <a:t>Proactive Recall &amp; Cache Sizing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Proactive Pre-warming: Scheduled PowerShell automation using Invoke-StorageSyncFileRecall recalls active project data overnight before shift starts.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Command Executed: Invoke-StorageSyncFileRecall -Path 'E:\OnPremShare' - successfully recalled cold files with 0 user wait time.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Tuned Free Space Thresholds: Keeping volume free space policy at 20% ensures the 80% most critical working set stays cached locally.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8D4"/>
                </a:solidFill>
              </a:defRPr>
            </a:pPr>
            <a:r>
              <a:t>HYBRID STORAGE | PROJECT: 24CC3046-P073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C39"/>
                </a:solidFill>
              </a:defRPr>
            </a:pPr>
            <a:r>
              <a:t>Bottleneck 2: Antivirus Mass Recall Storm &amp; Mitigation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THE BOTTLENECK:</a:t>
            </a:r>
          </a:p>
          <a:p>
            <a:pPr>
              <a:defRPr sz="1700" b="1">
                <a:solidFill>
                  <a:srgbClr val="0B1C39"/>
                </a:solidFill>
              </a:defRPr>
            </a:pPr>
            <a:r>
              <a:t>Antivirus Mass Recall Storm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✖ Antivirus engines perform scheduled full disk scans across all files on local drives.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✖ Standard AV engines read the file stream of every stub to perform signature matching.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✖ StorageSync.sys interprets these scans as user read requests, triggering a recall avalanche.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✖ Consequence: Thousands of tiered files download at once, exhausting local disk space, creating massive bandwidth bills, and defeating tiering entirely.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ENGINEERED MITIGATION:</a:t>
            </a:r>
          </a:p>
          <a:p>
            <a:pPr>
              <a:defRPr sz="1700" b="1">
                <a:solidFill>
                  <a:srgbClr val="0B1C39"/>
                </a:solidFill>
              </a:defRPr>
            </a:pPr>
            <a:r>
              <a:t>Attribute Awareness &amp; Defender Exclusions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Path Exclusion: Configured Windows Defender to bypass full scans on the sync share: Add-MpPreference -ExclusionPath 'E:\OnPremShare'.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Process Exclusion: Trusted the sync agent daemon: Add-MpPreference -ExclusionProcess 'C:\Program Files\Azure\StorageSyncAgent\FileSyncSvc.exe'.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Offline Attribute Awareness: Verified that cloud-aware engines inspect FILE_ATTRIBUTE_OFFLINE (0x1000) and FILE_ATTRIBUTE_RECALL_ON_DATA_ACCESS to skip full reads.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8D4"/>
                </a:solidFill>
              </a:defRPr>
            </a:pPr>
            <a:r>
              <a:t>HYBRID STORAGE | PROJECT: 24CC3046-P073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C39"/>
                </a:solidFill>
              </a:defRPr>
            </a:pPr>
            <a:r>
              <a:t>Experimental Verification &amp; Implementation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TEST RESULT 1</a:t>
            </a:r>
          </a:p>
          <a:p>
            <a:pPr>
              <a:defRPr sz="1400" b="1">
                <a:solidFill>
                  <a:srgbClr val="0B1C39"/>
                </a:solidFill>
              </a:defRPr>
            </a:pPr>
            <a:r>
              <a:t>Cloud Endpoint Sync Verification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Created 5 x 20MB files (TestFile_1.dat - 5.dat) on E:\OnPremShare. Validated in Azure Portal that all 5 files uploaded to cloud-fileshare within 45 seconds via NTFS USN journal detection.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TEST RESULT 2</a:t>
            </a:r>
          </a:p>
          <a:p>
            <a:pPr>
              <a:defRPr sz="1400" b="1">
                <a:solidFill>
                  <a:srgbClr val="0B1C39"/>
                </a:solidFill>
              </a:defRPr>
            </a:pPr>
            <a:r>
              <a:t>Cloud Tiering Execution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Executed Invoke-StorageSyncCloudTiering on E:\OnPremShare. Verified file attributes switched to 'ReparsePoint, Offline', proving payload was offloaded to Azure Files while stub remained intact.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TEST RESULT 3</a:t>
            </a:r>
          </a:p>
          <a:p>
            <a:pPr>
              <a:defRPr sz="1400" b="1">
                <a:solidFill>
                  <a:srgbClr val="0B1C39"/>
                </a:solidFill>
              </a:defRPr>
            </a:pPr>
            <a:r>
              <a:t>Local Storage Reduction Proof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Compared Logical Size vs Size on Disk. Local disk consumption dropped to 0 KB per tiered file, freeing up physical storage and validating Use Case 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5120640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4114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TEST RESULT 4</a:t>
            </a:r>
          </a:p>
          <a:p>
            <a:pPr>
              <a:defRPr sz="1400" b="1">
                <a:solidFill>
                  <a:srgbClr val="0B1C39"/>
                </a:solidFill>
              </a:defRPr>
            </a:pPr>
            <a:r>
              <a:t>Bottleneck Solutions Verified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Tested Invoke-StorageSyncFileRecall to restore hot caching with 0 recall lag. Verified ExclusionPath and ExclusionProcess via Get-MpPreference.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8D4"/>
                </a:solidFill>
              </a:defRPr>
            </a:pPr>
            <a:r>
              <a:t>HYBRID STORAGE | PROJECT: 24CC3046-P073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C39"/>
                </a:solidFill>
              </a:defRPr>
            </a:pPr>
            <a:r>
              <a:t>Conclusion &amp; 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C39"/>
                </a:solidFill>
              </a:defRPr>
            </a:pPr>
            <a:r>
              <a:t>Project Summary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Successfully implemented an enterprise hybrid storage solution using Azure Files Sync 100% within Azure Portal.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Demonstrated cold file tiering with continuous local user accessibility and zero path modifications.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Drastically reduced on-premises storage growth, saving physical disk expenditure.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Engineered practical mitigations for recall latency and antivirus mass-recall storms.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Delivered a zero-downtime, cloud-scalable file infrastructure.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Future Scope &amp; Production Roadmap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🚀 Multi-Branch Cache Sync: Registering multiple branch office servers to a single sync group for cross-site collaboration.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🚀 Azure Private Endpoints: Restricting sync and SMB traffic over private VPN/ExpressRoute circuits for zero-trust security.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🚀 Azure Backup Integration: Automated immutable file share snapshots for ransomware protection and point-in-time recovery.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🚀 SMB Multichannel: Aggregating network bandwidth for multi-gigabit file sync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1855</Words>
  <Application>Microsoft Office PowerPoint</Application>
  <PresentationFormat>Widescreen</PresentationFormat>
  <Paragraphs>161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kula deepak</dc:creator>
  <cp:keywords/>
  <dc:description>generated using python-pptx</dc:description>
  <cp:lastModifiedBy>kula deepak</cp:lastModifiedBy>
  <cp:revision>2</cp:revision>
  <dcterms:created xsi:type="dcterms:W3CDTF">2013-01-27T09:14:16Z</dcterms:created>
  <dcterms:modified xsi:type="dcterms:W3CDTF">2026-09-27T04:32:10Z</dcterms:modified>
  <cp:category/>
</cp:coreProperties>
</file>